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61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29" autoAdjust="0"/>
  </p:normalViewPr>
  <p:slideViewPr>
    <p:cSldViewPr snapToGrid="0">
      <p:cViewPr varScale="1">
        <p:scale>
          <a:sx n="99" d="100"/>
          <a:sy n="99" d="100"/>
        </p:scale>
        <p:origin x="63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763DB-C6FD-4066-82F3-AF0EA3DF542A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1D4E5-CE0E-400F-8961-CAB557117A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891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属于有监督学习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1D4E5-CE0E-400F-8961-CAB557117AB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307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1D4E5-CE0E-400F-8961-CAB557117AB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219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E620B-FF8C-73EB-AC92-59133E04D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D4ED83-8B06-ACB4-4C22-9B0C1E68C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31A34-D29A-86C6-F69A-BDFB7B23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FD5DAD-3D69-CDCD-35C7-3684C953E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44EB5D-1C21-F200-1727-73CE5A75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6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2E259-EE31-0C52-8848-6237362D9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D30AED-72FF-CB0C-1AFB-769F91C38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642284-F182-DAB0-EEEE-D61CF7598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0D8707-49D4-84B3-D680-659DDE18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D3168E-2A7C-D1BC-726D-F0D39D48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59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2DE48-F302-F0D6-6018-C6A59CD2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B58EE2-91B4-1D0E-0F07-E075D4C9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D65538-ED48-FE7E-BDC2-CDEDD1E0F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07AEFD-F11D-7FCC-DD5D-A412F6A4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4D9951-4C39-936E-E9FB-C1DE7C5D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77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46F0C-3DBA-E2E9-393A-BCD3A7D6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49755-C5A9-B746-3D27-6905718E2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EAF95B-5E60-1028-48FA-F3667A039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842080-1900-E993-91E8-ADAE7F48C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B042E2-D5E0-75A8-1C35-8EFF2806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169FB3-5974-1B69-7D86-D142C45F0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76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C5B01-1740-BCA1-0C78-D93C9BCA1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C9F82B-DA19-7A16-4F30-610F123A2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AA584E-6506-DE6D-A9FB-587D64157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AEBCF7-E3D6-56FC-EB47-6182A4C77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2751D7-4466-6DF1-7B05-1FD6D31F2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E7204E-1458-6C8B-17EC-1EF2145D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465E38-2B02-7886-3EE7-BE2D957B6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3F44C7-C419-6418-98C9-A24BFCF61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73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B88D4-32E9-AB6D-8101-4A17FC1F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85C79E-BC7A-0DB0-B81A-1FA5E498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761AA3-6D56-6880-8E04-17C742BF6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4836C3-9797-EF81-AB52-D3E83139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1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96597C-0E4E-1FC7-3A5E-6C573E80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9E5497-9BE4-03BF-01F7-5A1100BB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0E4D26-D99F-628A-14FD-20849DDD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32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F8AD4-55E7-7915-D4D8-CF79EEA6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94D801-3529-A998-2E43-21FC9CE16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2A44A3-C00A-A042-7887-123372745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B1D418-F578-4568-1825-1634C7B05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3C4618-4BC5-116F-00E5-7F25B6FD5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B41B2F-3A4A-C07B-16FA-707A3E5E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90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147E0-5A45-2548-132F-32B91B345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0C85E5-CEAD-0C09-1C83-234EF3F26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B6C43A-0EA8-79DD-FD11-2CEDD6D8D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479904-222B-C28A-6834-C578391E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3E57B0-76E8-1569-77DF-1A6B31C5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7A0C45-76B5-562D-0DB2-49D99551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29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A2B43-9DD7-921B-85C2-FC4158911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DA0679-0F9B-F8D4-A189-9F2155E48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4E80E4-ECAE-A75B-05AD-A871341C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E27B26-5B9E-D61F-95D3-8078CDA1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A5E9E1-36F1-0D33-4421-FFDA1C38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461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3DDB72-33AC-086E-BE6C-EC5FDBF40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5DD09A-15F3-9CF7-7079-9844058AA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A5C844-5A94-363F-BC44-D2E3A8EB7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62D84A-89B7-0E48-D218-A4BA242A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1B36A-16EA-07CB-94C4-6CF2E2FF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00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34572A-C59F-CB4D-9076-2CD3A928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82C85A-539B-7D5D-18B3-337589157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E99741-0D0A-E2AF-DFC3-49C3425D0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BE832-C00C-473F-8B0C-1D4208126733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53F3C5-F29A-AD84-F629-15A72C9A0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08613-48F3-B393-A7EC-E79D9012F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865A4-09E5-445D-81D8-F1E35FFC4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8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A_Data_Augmentation_Pipeline_to_Generate_Synthetic_Labeled_Datasets_of_3D_Echocardiography_Images_Using_a_GAN.pdf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Ahmed_MICCAI2020.pdf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Ahmed_MICCAI2020.pdf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Synthetic%20Lung%20Ultrasound%20Data%20Generation%20use%20GAN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FetalFlex%20Anatomy-guided%20diffusion%20model%20for%20flexible%20control%20on%20fetal%20ultrasound%20image%20synthesis.pdf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社交网络的手机截图上有猫&#10;&#10;AI 生成的内容可能不正确。">
            <a:extLst>
              <a:ext uri="{FF2B5EF4-FFF2-40B4-BE49-F238E27FC236}">
                <a16:creationId xmlns:a16="http://schemas.microsoft.com/office/drawing/2014/main" id="{3FE39502-35D2-C69A-9E46-77C28CE9C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67" y="1198880"/>
            <a:ext cx="10279666" cy="44602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674EB4-8836-4A0E-D31B-2C9C2E12A328}"/>
              </a:ext>
            </a:extLst>
          </p:cNvPr>
          <p:cNvSpPr txBox="1"/>
          <p:nvPr/>
        </p:nvSpPr>
        <p:spPr>
          <a:xfrm>
            <a:off x="956167" y="5911687"/>
            <a:ext cx="10279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Inter" panose="02000503000000020004" pitchFamily="2" charset="0"/>
              </a:rPr>
              <a:t>改造基于</a:t>
            </a:r>
            <a:r>
              <a:rPr lang="en-US" altLang="zh-CN" dirty="0">
                <a:latin typeface="Inter" panose="02000503000000020004" pitchFamily="2" charset="0"/>
              </a:rPr>
              <a:t>GAN</a:t>
            </a:r>
            <a:r>
              <a:rPr lang="zh-CN" altLang="en-US" dirty="0">
                <a:latin typeface="Inter" panose="02000503000000020004" pitchFamily="2" charset="0"/>
              </a:rPr>
              <a:t>的图像风格迁移模型</a:t>
            </a:r>
            <a:r>
              <a:rPr lang="en-US" altLang="zh-CN" dirty="0">
                <a:latin typeface="Inter" panose="02000503000000020004" pitchFamily="2" charset="0"/>
              </a:rPr>
              <a:t>Pix2pix</a:t>
            </a:r>
            <a:r>
              <a:rPr lang="zh-CN" altLang="en-US" dirty="0">
                <a:latin typeface="Inter" panose="02000503000000020004" pitchFamily="2" charset="0"/>
              </a:rPr>
              <a:t>，</a:t>
            </a:r>
            <a:r>
              <a:rPr lang="zh-CN" altLang="en-US" b="0" i="0" dirty="0">
                <a:effectLst/>
                <a:latin typeface="Inter" panose="02000503000000020004" pitchFamily="2" charset="0"/>
              </a:rPr>
              <a:t>生成器采用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 panose="02000503000000020004" pitchFamily="2" charset="0"/>
              </a:rPr>
              <a:t>3D U-Net</a:t>
            </a:r>
            <a:r>
              <a:rPr lang="zh-CN" altLang="en-US" dirty="0">
                <a:solidFill>
                  <a:srgbClr val="000000"/>
                </a:solidFill>
                <a:latin typeface="Inter" panose="02000503000000020004" pitchFamily="2" charset="0"/>
              </a:rPr>
              <a:t> </a:t>
            </a:r>
            <a:r>
              <a:rPr lang="zh-CN" altLang="en-US" b="0" i="0" dirty="0">
                <a:effectLst/>
                <a:latin typeface="Inter" panose="02000503000000020004" pitchFamily="2" charset="0"/>
              </a:rPr>
              <a:t>替换原 </a:t>
            </a:r>
            <a:r>
              <a:rPr lang="en-US" altLang="zh-CN" b="0" i="0" dirty="0">
                <a:effectLst/>
                <a:latin typeface="Inter" panose="02000503000000020004" pitchFamily="2" charset="0"/>
              </a:rPr>
              <a:t>2D U-Net</a:t>
            </a:r>
            <a:r>
              <a:rPr lang="zh-CN" altLang="en-US" b="0" i="0" dirty="0">
                <a:effectLst/>
                <a:latin typeface="Inter" panose="02000503000000020004" pitchFamily="2" charset="0"/>
              </a:rPr>
              <a:t>，判别器将所有 </a:t>
            </a:r>
            <a:r>
              <a:rPr lang="en-US" altLang="zh-CN" b="0" i="0" dirty="0">
                <a:effectLst/>
                <a:latin typeface="Inter" panose="02000503000000020004" pitchFamily="2" charset="0"/>
              </a:rPr>
              <a:t>2D </a:t>
            </a:r>
            <a:r>
              <a:rPr lang="zh-CN" altLang="en-US" b="0" i="0" dirty="0">
                <a:effectLst/>
                <a:latin typeface="Inter" panose="02000503000000020004" pitchFamily="2" charset="0"/>
              </a:rPr>
              <a:t>层替换为对应 </a:t>
            </a:r>
            <a:r>
              <a:rPr lang="en-US" altLang="zh-CN" b="0" i="0" dirty="0">
                <a:effectLst/>
                <a:latin typeface="Inter" panose="02000503000000020004" pitchFamily="2" charset="0"/>
              </a:rPr>
              <a:t>3D </a:t>
            </a:r>
            <a:r>
              <a:rPr lang="zh-CN" altLang="en-US" b="0" i="0" dirty="0">
                <a:effectLst/>
                <a:latin typeface="Inter" panose="02000503000000020004" pitchFamily="2" charset="0"/>
              </a:rPr>
              <a:t>层，使用</a:t>
            </a:r>
            <a:r>
              <a:rPr lang="en-US" altLang="zh-CN" b="0" i="0" dirty="0">
                <a:effectLst/>
                <a:latin typeface="Inter" panose="02000503000000020004" pitchFamily="2" charset="0"/>
              </a:rPr>
              <a:t>15</a:t>
            </a:r>
            <a:r>
              <a:rPr lang="zh-CN" altLang="en-US" b="0" i="0" dirty="0">
                <a:effectLst/>
                <a:latin typeface="Inter" panose="02000503000000020004" pitchFamily="2" charset="0"/>
              </a:rPr>
              <a:t>组</a:t>
            </a:r>
            <a:r>
              <a:rPr lang="en-US" altLang="zh-CN" b="0" i="0" dirty="0">
                <a:effectLst/>
                <a:latin typeface="Inter" panose="02000503000000020004" pitchFamily="2" charset="0"/>
              </a:rPr>
              <a:t>3D</a:t>
            </a:r>
            <a:r>
              <a:rPr lang="zh-CN" altLang="en-US" b="0" i="0" dirty="0">
                <a:effectLst/>
                <a:latin typeface="Inter" panose="02000503000000020004" pitchFamily="2" charset="0"/>
              </a:rPr>
              <a:t>超声心动图和对应的标注</a:t>
            </a:r>
            <a:r>
              <a:rPr lang="en-US" altLang="zh-CN" b="0" i="0" dirty="0">
                <a:effectLst/>
                <a:latin typeface="Inter" panose="02000503000000020004" pitchFamily="2" charset="0"/>
              </a:rPr>
              <a:t>mask</a:t>
            </a:r>
            <a:r>
              <a:rPr lang="zh-CN" altLang="en-US" b="0" i="0" dirty="0">
                <a:effectLst/>
                <a:latin typeface="Inter" panose="02000503000000020004" pitchFamily="2" charset="0"/>
              </a:rPr>
              <a:t>，下游分割任务验证有效性。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D8064A-4E95-96C8-4F09-11ED1F8BB337}"/>
              </a:ext>
            </a:extLst>
          </p:cNvPr>
          <p:cNvSpPr txBox="1"/>
          <p:nvPr/>
        </p:nvSpPr>
        <p:spPr>
          <a:xfrm>
            <a:off x="956167" y="426265"/>
            <a:ext cx="6006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1F2329"/>
                </a:solidFill>
                <a:effectLst/>
                <a:latin typeface="ui-sans-serif"/>
              </a:rPr>
              <a:t>A Data Augmentation Pipeline to Generate Synthetic Labeled Datasets of 3D Echocardiography Images Using a GAN </a:t>
            </a:r>
            <a:r>
              <a:rPr lang="en-US" altLang="zh-CN" i="0" u="sng" dirty="0">
                <a:solidFill>
                  <a:srgbClr val="1F2329"/>
                </a:solidFill>
                <a:effectLst/>
                <a:latin typeface="ui-sans-serif"/>
                <a:hlinkClick r:id="rId4" action="ppaction://hlinkfile"/>
              </a:rPr>
              <a:t>link</a:t>
            </a:r>
            <a:endParaRPr lang="zh-CN" altLang="en-US" u="sng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B8DE38-9C80-2D49-153C-EFCE28A00280}"/>
              </a:ext>
            </a:extLst>
          </p:cNvPr>
          <p:cNvSpPr txBox="1"/>
          <p:nvPr/>
        </p:nvSpPr>
        <p:spPr>
          <a:xfrm>
            <a:off x="8350394" y="564764"/>
            <a:ext cx="2885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b="0" i="0" dirty="0">
                <a:solidFill>
                  <a:srgbClr val="1F2329"/>
                </a:solidFill>
                <a:effectLst/>
                <a:latin typeface="ui-sans-serif"/>
              </a:rPr>
              <a:t>IEEE Access IF3.6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145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254C-03BE-52ED-29DC-C687FFD9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2AF0DBE-697F-6DEA-795E-54819CB3C016}"/>
              </a:ext>
            </a:extLst>
          </p:cNvPr>
          <p:cNvSpPr txBox="1"/>
          <p:nvPr/>
        </p:nvSpPr>
        <p:spPr>
          <a:xfrm>
            <a:off x="956167" y="426265"/>
            <a:ext cx="6006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1F2329"/>
                </a:solidFill>
                <a:effectLst/>
                <a:latin typeface="ui-sans-serif"/>
              </a:rPr>
              <a:t>GAN-based Realistic Bone Ultrasound Image and Label Synthesis for Improved Segmentation </a:t>
            </a:r>
            <a:r>
              <a:rPr lang="en-US" altLang="zh-CN" i="0" u="sng" dirty="0">
                <a:solidFill>
                  <a:srgbClr val="1F2329"/>
                </a:solidFill>
                <a:effectLst/>
                <a:latin typeface="ui-sans-serif"/>
                <a:hlinkClick r:id="rId2" action="ppaction://hlinkfile"/>
              </a:rPr>
              <a:t>link</a:t>
            </a:r>
            <a:endParaRPr lang="zh-CN" altLang="en-US" u="sng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211798-3686-5EBD-B4FD-E7561198BBEE}"/>
              </a:ext>
            </a:extLst>
          </p:cNvPr>
          <p:cNvSpPr txBox="1"/>
          <p:nvPr/>
        </p:nvSpPr>
        <p:spPr>
          <a:xfrm>
            <a:off x="8350394" y="564764"/>
            <a:ext cx="2885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b="0" i="0" dirty="0">
                <a:solidFill>
                  <a:srgbClr val="1F2329"/>
                </a:solidFill>
                <a:effectLst/>
                <a:latin typeface="ui-sans-serif"/>
              </a:rPr>
              <a:t>MICCAI 2020</a:t>
            </a:r>
            <a:endParaRPr lang="zh-CN" altLang="en-US" dirty="0"/>
          </a:p>
        </p:txBody>
      </p:sp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26A6A546-717B-8BF1-9583-74C63E360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67" y="1246292"/>
            <a:ext cx="6081326" cy="46462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DDFAD14-A61A-687F-ACEA-C7C2C8D7EBD5}"/>
              </a:ext>
            </a:extLst>
          </p:cNvPr>
          <p:cNvSpPr txBox="1"/>
          <p:nvPr/>
        </p:nvSpPr>
        <p:spPr>
          <a:xfrm>
            <a:off x="7037493" y="1246292"/>
            <a:ext cx="44105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 panose="02000503000000020004" pitchFamily="2" charset="0"/>
              </a:rPr>
              <a:t>生成器结构由“自注意力块</a:t>
            </a:r>
            <a:r>
              <a:rPr lang="en-US" altLang="zh-CN" b="0" i="0" dirty="0">
                <a:effectLst/>
                <a:latin typeface="Inter" panose="02000503000000020004" pitchFamily="2" charset="0"/>
              </a:rPr>
              <a:t>+ </a:t>
            </a:r>
            <a:r>
              <a:rPr lang="zh-CN" altLang="en-US" b="0" i="0" dirty="0">
                <a:effectLst/>
                <a:latin typeface="Inter" panose="02000503000000020004" pitchFamily="2" charset="0"/>
              </a:rPr>
              <a:t>自投影块”的重复堆叠序列组成</a:t>
            </a:r>
            <a:endParaRPr lang="en-US" altLang="zh-CN" b="0" i="0" dirty="0">
              <a:effectLst/>
              <a:latin typeface="Inter" panose="02000503000000020004" pitchFamily="2" charset="0"/>
            </a:endParaRPr>
          </a:p>
          <a:p>
            <a:r>
              <a:rPr lang="zh-CN" altLang="en-US" dirty="0"/>
              <a:t>使用</a:t>
            </a:r>
            <a:r>
              <a:rPr lang="en-US" altLang="zh-CN" dirty="0" err="1"/>
              <a:t>PatchGAN</a:t>
            </a:r>
            <a:r>
              <a:rPr lang="en-US" altLang="zh-CN" dirty="0"/>
              <a:t>-like</a:t>
            </a:r>
            <a:r>
              <a:rPr lang="zh-CN" altLang="en-US" dirty="0"/>
              <a:t>判别器，并非简单二分类，而是分块评判汇总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D5380D-9ADB-488E-AC7C-8E36DFCF6971}"/>
              </a:ext>
            </a:extLst>
          </p:cNvPr>
          <p:cNvSpPr txBox="1"/>
          <p:nvPr/>
        </p:nvSpPr>
        <p:spPr>
          <a:xfrm>
            <a:off x="7037493" y="2917367"/>
            <a:ext cx="4314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Intel Xeon CPU at 3.00GHz </a:t>
            </a:r>
          </a:p>
          <a:p>
            <a:r>
              <a:rPr lang="en-US" altLang="zh-CN" dirty="0"/>
              <a:t>Nvidia Titan-X GPU with 8GB of memory.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F386BB-21AD-D7C9-463C-029323AE0730}"/>
              </a:ext>
            </a:extLst>
          </p:cNvPr>
          <p:cNvSpPr txBox="1"/>
          <p:nvPr/>
        </p:nvSpPr>
        <p:spPr>
          <a:xfrm>
            <a:off x="7037493" y="4034445"/>
            <a:ext cx="3000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400</a:t>
            </a:r>
            <a:r>
              <a:rPr lang="zh-CN" altLang="en-US" dirty="0"/>
              <a:t>张</a:t>
            </a:r>
            <a:r>
              <a:rPr lang="en-US" altLang="zh-CN" dirty="0"/>
              <a:t>2D</a:t>
            </a:r>
            <a:r>
              <a:rPr lang="zh-CN" altLang="en-US" dirty="0"/>
              <a:t>超声图像用于训练 </a:t>
            </a:r>
            <a:r>
              <a:rPr lang="en-US" altLang="zh-CN" dirty="0"/>
              <a:t>GAN </a:t>
            </a:r>
            <a:r>
              <a:rPr lang="zh-CN" altLang="en-US" dirty="0"/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1619150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AE00-35E3-7288-D0B7-96C506A00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D36B34E-B171-7E24-2A03-6D997B4C67E6}"/>
              </a:ext>
            </a:extLst>
          </p:cNvPr>
          <p:cNvSpPr txBox="1"/>
          <p:nvPr/>
        </p:nvSpPr>
        <p:spPr>
          <a:xfrm>
            <a:off x="956167" y="426265"/>
            <a:ext cx="6006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zh-CN" b="1" i="0" dirty="0">
                <a:solidFill>
                  <a:srgbClr val="1F2329"/>
                </a:solidFill>
                <a:effectLst/>
                <a:latin typeface="ui-sans-serif"/>
              </a:rPr>
              <a:t>RadImageGAN – A Multi-modal Dataset-Scale Generative AI for Medical Imaging </a:t>
            </a:r>
            <a:r>
              <a:rPr lang="en-US" altLang="zh-CN" i="0" u="sng" dirty="0">
                <a:solidFill>
                  <a:srgbClr val="1F2329"/>
                </a:solidFill>
                <a:effectLst/>
                <a:latin typeface="ui-sans-serif"/>
                <a:hlinkClick r:id="rId2" action="ppaction://hlinkfile"/>
              </a:rPr>
              <a:t>link</a:t>
            </a:r>
            <a:endParaRPr lang="zh-CN" altLang="en-US" u="sng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6C8290-2036-38AC-999D-82AA7B5AF007}"/>
              </a:ext>
            </a:extLst>
          </p:cNvPr>
          <p:cNvSpPr txBox="1"/>
          <p:nvPr/>
        </p:nvSpPr>
        <p:spPr>
          <a:xfrm>
            <a:off x="8350394" y="564764"/>
            <a:ext cx="2885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b="0" i="0" dirty="0">
                <a:solidFill>
                  <a:srgbClr val="1F2329"/>
                </a:solidFill>
                <a:effectLst/>
                <a:latin typeface="ui-sans-serif"/>
              </a:rPr>
              <a:t>AMAI 2024</a:t>
            </a:r>
            <a:endParaRPr lang="zh-CN" altLang="en-US" dirty="0"/>
          </a:p>
        </p:txBody>
      </p:sp>
      <p:pic>
        <p:nvPicPr>
          <p:cNvPr id="4" name="图片 3" descr="图示, 示意图&#10;&#10;AI 生成的内容可能不正确。">
            <a:extLst>
              <a:ext uri="{FF2B5EF4-FFF2-40B4-BE49-F238E27FC236}">
                <a16:creationId xmlns:a16="http://schemas.microsoft.com/office/drawing/2014/main" id="{C6602DE9-5F22-2DB1-4326-1498B815B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970" y="1303428"/>
            <a:ext cx="4976060" cy="498980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4903782-0A56-FF62-B95D-521AC7623D5A}"/>
              </a:ext>
            </a:extLst>
          </p:cNvPr>
          <p:cNvSpPr txBox="1"/>
          <p:nvPr/>
        </p:nvSpPr>
        <p:spPr>
          <a:xfrm>
            <a:off x="956167" y="1303428"/>
            <a:ext cx="2787758" cy="147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步骤 </a:t>
            </a:r>
            <a:r>
              <a:rPr lang="en-US" altLang="zh-CN" sz="1400" dirty="0"/>
              <a:t>1</a:t>
            </a:r>
            <a:r>
              <a:rPr lang="zh-CN" altLang="en-US" sz="1400" dirty="0"/>
              <a:t>：用 </a:t>
            </a:r>
            <a:r>
              <a:rPr lang="en-US" altLang="zh-CN" sz="1400" dirty="0"/>
              <a:t>StyleGAN-XL </a:t>
            </a:r>
            <a:r>
              <a:rPr lang="zh-CN" altLang="en-US" sz="1400" dirty="0"/>
              <a:t>训练基础图像生成器</a:t>
            </a:r>
            <a:r>
              <a:rPr lang="en-US" altLang="zh-CN" sz="1400" dirty="0" err="1"/>
              <a:t>RadImageGAN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两个医学影像数据集：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err="1"/>
              <a:t>RadImageNet</a:t>
            </a:r>
            <a:r>
              <a:rPr lang="zh-CN" altLang="en-US" sz="1200" dirty="0"/>
              <a:t>提供</a:t>
            </a:r>
            <a:r>
              <a:rPr lang="en-US" altLang="zh-CN" sz="1200" dirty="0"/>
              <a:t>CT/MRI </a:t>
            </a:r>
            <a:r>
              <a:rPr lang="zh-CN" altLang="en-US" sz="1200" dirty="0"/>
              <a:t>数据；</a:t>
            </a:r>
            <a:endParaRPr lang="en-US" altLang="zh-CN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 err="1"/>
              <a:t>HyperKvasir</a:t>
            </a:r>
            <a:r>
              <a:rPr lang="zh-CN" altLang="en-US" sz="1200" dirty="0"/>
              <a:t>提供结肠镜数据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DE1461-1905-318F-C5CB-351ED79E0E1C}"/>
              </a:ext>
            </a:extLst>
          </p:cNvPr>
          <p:cNvSpPr txBox="1"/>
          <p:nvPr/>
        </p:nvSpPr>
        <p:spPr>
          <a:xfrm>
            <a:off x="8584030" y="1303427"/>
            <a:ext cx="2787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步骤 </a:t>
            </a:r>
            <a:r>
              <a:rPr lang="en-US" altLang="zh-CN" sz="1400" dirty="0"/>
              <a:t>2</a:t>
            </a:r>
            <a:r>
              <a:rPr lang="zh-CN" altLang="en-US" sz="1400" dirty="0"/>
              <a:t>： 使用 </a:t>
            </a:r>
            <a:r>
              <a:rPr lang="en-US" altLang="zh-CN" sz="1400" dirty="0"/>
              <a:t>50 </a:t>
            </a:r>
            <a:r>
              <a:rPr lang="zh-CN" altLang="en-US" sz="1400" dirty="0"/>
              <a:t>张左右含</a:t>
            </a:r>
            <a:r>
              <a:rPr lang="en-US" altLang="zh-CN" sz="1400" dirty="0"/>
              <a:t>mask</a:t>
            </a:r>
            <a:r>
              <a:rPr lang="zh-CN" altLang="en-US" sz="1400" dirty="0"/>
              <a:t>标注的的合成样本训练</a:t>
            </a:r>
            <a:r>
              <a:rPr lang="en-US" altLang="zh-CN" sz="1400" dirty="0" err="1"/>
              <a:t>RadImageGAN</a:t>
            </a:r>
            <a:r>
              <a:rPr lang="zh-CN" altLang="en-US" sz="1400" dirty="0"/>
              <a:t>，学习图像的视觉特征与分割的映射关系，再泛化到大量无标签合成图像上，得到大量的“合成图像 </a:t>
            </a:r>
            <a:r>
              <a:rPr lang="en-US" altLang="zh-CN" sz="1400" dirty="0"/>
              <a:t>+ </a:t>
            </a:r>
            <a:r>
              <a:rPr lang="zh-CN" altLang="en-US" sz="1400" dirty="0"/>
              <a:t>像素级分割标签” 配对的数据</a:t>
            </a:r>
            <a:endParaRPr lang="en-US" altLang="zh-CN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BD1957-F73A-A0ED-7DE3-36F677A388CA}"/>
              </a:ext>
            </a:extLst>
          </p:cNvPr>
          <p:cNvSpPr txBox="1"/>
          <p:nvPr/>
        </p:nvSpPr>
        <p:spPr>
          <a:xfrm>
            <a:off x="8584030" y="3954134"/>
            <a:ext cx="27877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步骤 </a:t>
            </a:r>
            <a:r>
              <a:rPr lang="en-US" altLang="zh-CN" sz="1400" dirty="0"/>
              <a:t>3</a:t>
            </a:r>
            <a:r>
              <a:rPr lang="zh-CN" altLang="en-US" sz="1400" dirty="0"/>
              <a:t>： 将得到大量的“合成图像 </a:t>
            </a:r>
            <a:r>
              <a:rPr lang="en-US" altLang="zh-CN" sz="1400" dirty="0"/>
              <a:t>+ </a:t>
            </a:r>
            <a:r>
              <a:rPr lang="zh-CN" altLang="en-US" sz="1400" dirty="0"/>
              <a:t>像素级分割标签” 配对</a:t>
            </a:r>
            <a:r>
              <a:rPr lang="zh-CN" altLang="en-US" sz="1400"/>
              <a:t>的数据用于下游分割任务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25730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B9B2-6FDE-FDF4-77FD-4934B334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50D9BE4-EAB1-AC2B-FF91-63E7333D31C7}"/>
              </a:ext>
            </a:extLst>
          </p:cNvPr>
          <p:cNvSpPr txBox="1"/>
          <p:nvPr/>
        </p:nvSpPr>
        <p:spPr>
          <a:xfrm>
            <a:off x="956167" y="426265"/>
            <a:ext cx="6006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1F2329"/>
                </a:solidFill>
                <a:effectLst/>
                <a:latin typeface="ui-sans-serif"/>
              </a:rPr>
              <a:t>Synthetic Lung Ultrasound Data Generation Using Autoencoder With Generative Adversarial Network </a:t>
            </a:r>
            <a:r>
              <a:rPr lang="en-US" altLang="zh-CN" i="0" u="sng" dirty="0">
                <a:solidFill>
                  <a:srgbClr val="1F2329"/>
                </a:solidFill>
                <a:effectLst/>
                <a:latin typeface="ui-sans-serif"/>
                <a:hlinkClick r:id="rId3" action="ppaction://hlinkfile"/>
              </a:rPr>
              <a:t>link</a:t>
            </a:r>
            <a:endParaRPr lang="zh-CN" altLang="en-US" u="sng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9ECF45-D831-0DF0-BB86-6E521DB25A93}"/>
              </a:ext>
            </a:extLst>
          </p:cNvPr>
          <p:cNvSpPr txBox="1"/>
          <p:nvPr/>
        </p:nvSpPr>
        <p:spPr>
          <a:xfrm>
            <a:off x="7989376" y="564764"/>
            <a:ext cx="3246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b="1" dirty="0">
                <a:effectLst/>
              </a:rPr>
              <a:t>IEEE T ULTRASON FERR </a:t>
            </a:r>
            <a:r>
              <a:rPr lang="en-US" altLang="zh-CN" b="0" i="0" dirty="0">
                <a:solidFill>
                  <a:srgbClr val="1F2329"/>
                </a:solidFill>
                <a:effectLst/>
                <a:latin typeface="ui-sans-serif"/>
              </a:rPr>
              <a:t>IF3.7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80257B-5B34-89A6-47A8-F6C1CC7F8889}"/>
              </a:ext>
            </a:extLst>
          </p:cNvPr>
          <p:cNvSpPr txBox="1"/>
          <p:nvPr/>
        </p:nvSpPr>
        <p:spPr>
          <a:xfrm>
            <a:off x="956167" y="5777284"/>
            <a:ext cx="18224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两个超声视频数据集，共</a:t>
            </a:r>
            <a:r>
              <a:rPr lang="en-US" altLang="zh-CN" sz="1400" dirty="0"/>
              <a:t>6</a:t>
            </a:r>
            <a:r>
              <a:rPr lang="zh-CN" altLang="en-US" sz="1400" dirty="0"/>
              <a:t>万余帧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B109040-734A-B804-DF4D-5A1062F6C552}"/>
              </a:ext>
            </a:extLst>
          </p:cNvPr>
          <p:cNvSpPr txBox="1"/>
          <p:nvPr/>
        </p:nvSpPr>
        <p:spPr>
          <a:xfrm>
            <a:off x="6838897" y="1281443"/>
            <a:ext cx="4787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Generator Loss</a:t>
            </a:r>
            <a:r>
              <a:rPr lang="zh-CN" altLang="en-US" sz="1400" dirty="0"/>
              <a:t>：衡量生成样本真实程度，优化生成器</a:t>
            </a:r>
          </a:p>
          <a:p>
            <a:r>
              <a:rPr lang="en-US" altLang="zh-CN" sz="1400" dirty="0"/>
              <a:t>Discriminator Loss</a:t>
            </a:r>
            <a:r>
              <a:rPr lang="zh-CN" altLang="en-US" sz="1400" dirty="0"/>
              <a:t>：衡量分类类别的准确程度，优化判别器</a:t>
            </a:r>
          </a:p>
        </p:txBody>
      </p:sp>
      <p:pic>
        <p:nvPicPr>
          <p:cNvPr id="27" name="图片 26" descr="图示&#10;&#10;AI 生成的内容可能不正确。">
            <a:extLst>
              <a:ext uri="{FF2B5EF4-FFF2-40B4-BE49-F238E27FC236}">
                <a16:creationId xmlns:a16="http://schemas.microsoft.com/office/drawing/2014/main" id="{6963F6E6-DAEC-47B3-F790-D0B1A243B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868" y="2013510"/>
            <a:ext cx="9012264" cy="334608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C87BCB89-D1CA-1E52-BE57-7953346CF82A}"/>
              </a:ext>
            </a:extLst>
          </p:cNvPr>
          <p:cNvSpPr txBox="1"/>
          <p:nvPr/>
        </p:nvSpPr>
        <p:spPr>
          <a:xfrm>
            <a:off x="956167" y="5359590"/>
            <a:ext cx="101173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Decoder Trained Weights</a:t>
            </a:r>
            <a:r>
              <a:rPr lang="zh-CN" altLang="en-US" sz="1400" dirty="0"/>
              <a:t> 使用 </a:t>
            </a:r>
            <a:r>
              <a:rPr lang="en-US" altLang="zh-CN" sz="1400" dirty="0"/>
              <a:t>LUS </a:t>
            </a:r>
            <a:r>
              <a:rPr lang="zh-CN" altLang="en-US" sz="1400" dirty="0"/>
              <a:t>数据集预训练自编码器（</a:t>
            </a:r>
            <a:r>
              <a:rPr lang="en-US" altLang="zh-CN" sz="1400" dirty="0"/>
              <a:t>Autoencoder</a:t>
            </a:r>
            <a:r>
              <a:rPr lang="zh-CN" altLang="en-US" sz="1400" dirty="0"/>
              <a:t>，由 </a:t>
            </a:r>
            <a:r>
              <a:rPr lang="en-US" altLang="zh-CN" sz="1400" dirty="0" err="1"/>
              <a:t>Encoder+Decoder</a:t>
            </a:r>
            <a:r>
              <a:rPr lang="en-US" altLang="zh-CN" sz="1400" dirty="0"/>
              <a:t> </a:t>
            </a:r>
            <a:r>
              <a:rPr lang="zh-CN" altLang="en-US" sz="1400" dirty="0"/>
              <a:t>组成）后提取解码器部分得到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05A724-0467-8A7A-B46E-32F6EDD6A09A}"/>
              </a:ext>
            </a:extLst>
          </p:cNvPr>
          <p:cNvSpPr txBox="1"/>
          <p:nvPr/>
        </p:nvSpPr>
        <p:spPr>
          <a:xfrm>
            <a:off x="956167" y="1543053"/>
            <a:ext cx="53077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提取预训练自编码器（</a:t>
            </a:r>
            <a:r>
              <a:rPr lang="en-US" altLang="zh-CN" sz="1400" dirty="0"/>
              <a:t>Autoencoder</a:t>
            </a:r>
            <a:r>
              <a:rPr lang="zh-CN" altLang="en-US" sz="1400" dirty="0"/>
              <a:t>，由 </a:t>
            </a:r>
            <a:r>
              <a:rPr lang="en-US" altLang="zh-CN" sz="1400" dirty="0" err="1"/>
              <a:t>Encoder+Decoder</a:t>
            </a:r>
            <a:r>
              <a:rPr lang="en-US" altLang="zh-CN" sz="1400" dirty="0"/>
              <a:t> </a:t>
            </a:r>
            <a:r>
              <a:rPr lang="zh-CN" altLang="en-US" sz="1400" dirty="0"/>
              <a:t>组成）的编码器部分结合条件 </a:t>
            </a:r>
            <a:r>
              <a:rPr lang="en-US" altLang="zh-CN" sz="1400" dirty="0"/>
              <a:t>Wasserstein </a:t>
            </a:r>
            <a:r>
              <a:rPr lang="zh-CN" altLang="en-US" sz="1400" dirty="0"/>
              <a:t>判别器得到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92B10BD-D9DB-26D1-5487-6680205B7563}"/>
              </a:ext>
            </a:extLst>
          </p:cNvPr>
          <p:cNvSpPr txBox="1"/>
          <p:nvPr/>
        </p:nvSpPr>
        <p:spPr>
          <a:xfrm>
            <a:off x="956167" y="3428238"/>
            <a:ext cx="1822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提供条件约束</a:t>
            </a:r>
          </a:p>
        </p:txBody>
      </p:sp>
    </p:spTree>
    <p:extLst>
      <p:ext uri="{BB962C8B-B14F-4D97-AF65-F5344CB8AC3E}">
        <p14:creationId xmlns:p14="http://schemas.microsoft.com/office/powerpoint/2010/main" val="3065626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19034-AAE5-F3F2-EE31-2F90D7C1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32168B4-A917-E44F-9784-8A80F4564D0B}"/>
              </a:ext>
            </a:extLst>
          </p:cNvPr>
          <p:cNvSpPr txBox="1"/>
          <p:nvPr/>
        </p:nvSpPr>
        <p:spPr>
          <a:xfrm>
            <a:off x="956167" y="426265"/>
            <a:ext cx="6006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 err="1">
                <a:solidFill>
                  <a:srgbClr val="1F2329"/>
                </a:solidFill>
                <a:effectLst/>
                <a:latin typeface="ui-sans-serif"/>
              </a:rPr>
              <a:t>FetalFlex</a:t>
            </a:r>
            <a:r>
              <a:rPr lang="en-US" altLang="zh-CN" b="1" i="0" dirty="0">
                <a:solidFill>
                  <a:srgbClr val="1F2329"/>
                </a:solidFill>
                <a:effectLst/>
                <a:latin typeface="ui-sans-serif"/>
              </a:rPr>
              <a:t> Anatomy-guided diffusion model for flexible control on fetal ultrasound image synthesis </a:t>
            </a:r>
            <a:r>
              <a:rPr lang="en-US" altLang="zh-CN" i="0" u="sng" dirty="0">
                <a:solidFill>
                  <a:srgbClr val="1F2329"/>
                </a:solidFill>
                <a:effectLst/>
                <a:latin typeface="ui-sans-serif"/>
                <a:hlinkClick r:id="rId2" action="ppaction://hlinkfile"/>
              </a:rPr>
              <a:t>link</a:t>
            </a:r>
            <a:endParaRPr lang="zh-CN" altLang="en-US" u="sng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CDB14C-5357-710B-437D-BF555EC8A5BD}"/>
              </a:ext>
            </a:extLst>
          </p:cNvPr>
          <p:cNvSpPr txBox="1"/>
          <p:nvPr/>
        </p:nvSpPr>
        <p:spPr>
          <a:xfrm>
            <a:off x="8350394" y="564764"/>
            <a:ext cx="2885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b="0" i="0" dirty="0">
                <a:solidFill>
                  <a:srgbClr val="1F2329"/>
                </a:solidFill>
                <a:effectLst/>
                <a:latin typeface="ui-sans-serif"/>
              </a:rPr>
              <a:t>Media IF11.8</a:t>
            </a:r>
            <a:endParaRPr lang="zh-CN" altLang="en-US" dirty="0"/>
          </a:p>
        </p:txBody>
      </p:sp>
      <p:pic>
        <p:nvPicPr>
          <p:cNvPr id="4" name="图片 3" descr="图片包含 图示&#10;&#10;AI 生成的内容可能不正确。">
            <a:extLst>
              <a:ext uri="{FF2B5EF4-FFF2-40B4-BE49-F238E27FC236}">
                <a16:creationId xmlns:a16="http://schemas.microsoft.com/office/drawing/2014/main" id="{C38919F9-075A-7ED5-D317-B6A498C02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67" y="1167934"/>
            <a:ext cx="4604740" cy="198587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ECE7E72-7AA2-F14C-C914-07C74BFC9AA9}"/>
              </a:ext>
            </a:extLst>
          </p:cNvPr>
          <p:cNvSpPr txBox="1"/>
          <p:nvPr/>
        </p:nvSpPr>
        <p:spPr>
          <a:xfrm>
            <a:off x="6305973" y="1397000"/>
            <a:ext cx="159850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输入：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解剖结构布局</a:t>
            </a:r>
            <a:endParaRPr lang="en-US" altLang="zh-CN" sz="1400" b="0" i="0" dirty="0">
              <a:effectLst/>
              <a:latin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effectLst/>
                <a:latin typeface="Inter" panose="02000503000000020004" pitchFamily="2" charset="0"/>
              </a:rPr>
              <a:t>文本提示指令</a:t>
            </a:r>
            <a:endParaRPr lang="en-US" altLang="zh-CN" sz="1400" b="0" i="0" dirty="0">
              <a:effectLst/>
              <a:latin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effectLst/>
                <a:latin typeface="Inter" panose="02000503000000020004" pitchFamily="2" charset="0"/>
              </a:rPr>
              <a:t>源图像参考</a:t>
            </a:r>
            <a:endParaRPr lang="en-US" altLang="zh-CN" sz="1400" b="0" i="0" dirty="0">
              <a:effectLst/>
              <a:latin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effectLst/>
                <a:latin typeface="Inter" panose="02000503000000020004" pitchFamily="2" charset="0"/>
              </a:rPr>
              <a:t>源掩码标注</a:t>
            </a:r>
            <a:endParaRPr lang="en-US" altLang="zh-CN" sz="1400" b="0" i="0" dirty="0">
              <a:effectLst/>
              <a:latin typeface="Inter" panose="02000503000000020004" pitchFamily="2" charset="0"/>
            </a:endParaRPr>
          </a:p>
          <a:p>
            <a:r>
              <a:rPr lang="zh-CN" altLang="en-US" sz="1400" dirty="0">
                <a:latin typeface="Inter" panose="02000503000000020004" pitchFamily="2" charset="0"/>
              </a:rPr>
              <a:t>输出：</a:t>
            </a:r>
            <a:endParaRPr lang="en-US" altLang="zh-CN" sz="1400" dirty="0">
              <a:latin typeface="Inter" panose="020005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正常图像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异常图像</a:t>
            </a:r>
          </a:p>
        </p:txBody>
      </p:sp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ACF01B1D-969A-91C6-FCD7-16F840552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644" y="3305147"/>
            <a:ext cx="6046712" cy="342036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CCF30E9-8A90-EC6E-BE46-46EE837DBB50}"/>
              </a:ext>
            </a:extLst>
          </p:cNvPr>
          <p:cNvSpPr txBox="1"/>
          <p:nvPr/>
        </p:nvSpPr>
        <p:spPr>
          <a:xfrm>
            <a:off x="956167" y="3704195"/>
            <a:ext cx="21164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目标检测算法，从原始图像中识别并提取关键解剖结构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74185B-8CAD-C99D-D42E-465F47B67409}"/>
              </a:ext>
            </a:extLst>
          </p:cNvPr>
          <p:cNvSpPr txBox="1"/>
          <p:nvPr/>
        </p:nvSpPr>
        <p:spPr>
          <a:xfrm>
            <a:off x="956167" y="5214852"/>
            <a:ext cx="12666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生成布局图</a:t>
            </a:r>
          </a:p>
          <a:p>
            <a:r>
              <a:rPr lang="zh-CN" altLang="en-US" sz="1400" dirty="0"/>
              <a:t>构建全局提示</a:t>
            </a:r>
          </a:p>
          <a:p>
            <a:r>
              <a:rPr lang="zh-CN" altLang="en-US" sz="1400" dirty="0"/>
              <a:t>制作</a:t>
            </a:r>
            <a:r>
              <a:rPr lang="en-US" altLang="zh-CN" sz="1400" dirty="0"/>
              <a:t>ROI </a:t>
            </a:r>
            <a:r>
              <a:rPr lang="zh-CN" altLang="en-US" sz="1400" dirty="0"/>
              <a:t>掩码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0ED26FA-BF6E-F537-AFF4-D86815A34F65}"/>
              </a:ext>
            </a:extLst>
          </p:cNvPr>
          <p:cNvCxnSpPr>
            <a:stCxn id="21" idx="3"/>
            <a:endCxn id="10" idx="1"/>
          </p:cNvCxnSpPr>
          <p:nvPr/>
        </p:nvCxnSpPr>
        <p:spPr>
          <a:xfrm flipV="1">
            <a:off x="2222780" y="5015328"/>
            <a:ext cx="849864" cy="568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712556D-7422-429C-9B56-18E182F51CEE}"/>
              </a:ext>
            </a:extLst>
          </p:cNvPr>
          <p:cNvCxnSpPr>
            <a:stCxn id="21" idx="3"/>
          </p:cNvCxnSpPr>
          <p:nvPr/>
        </p:nvCxnSpPr>
        <p:spPr>
          <a:xfrm>
            <a:off x="2222780" y="5584184"/>
            <a:ext cx="849864" cy="288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14A53A-6C99-ADC5-A822-675173D815EF}"/>
              </a:ext>
            </a:extLst>
          </p:cNvPr>
          <p:cNvSpPr txBox="1"/>
          <p:nvPr/>
        </p:nvSpPr>
        <p:spPr>
          <a:xfrm>
            <a:off x="9119356" y="3305147"/>
            <a:ext cx="30726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训练阶段：</a:t>
            </a:r>
            <a:endParaRPr lang="en-US" altLang="zh-CN" sz="1400" dirty="0"/>
          </a:p>
          <a:p>
            <a:r>
              <a:rPr lang="zh-CN" altLang="en-US" sz="1400" dirty="0"/>
              <a:t>冻结训练的 </a:t>
            </a:r>
            <a:r>
              <a:rPr lang="en-US" altLang="zh-CN" sz="1400" dirty="0"/>
              <a:t>Denoising U-Net </a:t>
            </a:r>
            <a:r>
              <a:rPr lang="zh-CN" altLang="en-US" sz="1400" dirty="0"/>
              <a:t>是基于</a:t>
            </a:r>
            <a:r>
              <a:rPr lang="en-US" altLang="zh-CN" sz="1400" dirty="0"/>
              <a:t>Stable Diffusion</a:t>
            </a:r>
            <a:r>
              <a:rPr lang="zh-CN" altLang="en-US" sz="1400" dirty="0"/>
              <a:t>预训练权重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CF24F19-1AEF-0280-DE99-711A09813A30}"/>
              </a:ext>
            </a:extLst>
          </p:cNvPr>
          <p:cNvSpPr txBox="1"/>
          <p:nvPr/>
        </p:nvSpPr>
        <p:spPr>
          <a:xfrm>
            <a:off x="9119356" y="4073527"/>
            <a:ext cx="30726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ControlNet </a:t>
            </a:r>
            <a:r>
              <a:rPr lang="zh-CN" altLang="en-US" sz="1400" dirty="0"/>
              <a:t>将 胎儿超声的解剖布局、文本提示等条件注入到 </a:t>
            </a:r>
            <a:r>
              <a:rPr lang="en-US" altLang="zh-CN" sz="1400" dirty="0"/>
              <a:t>U-Net </a:t>
            </a:r>
            <a:r>
              <a:rPr lang="zh-CN" altLang="en-US" sz="1400" dirty="0"/>
              <a:t>的生成过程中，是一个微调过程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02E5364-0997-AF01-E082-B0665B084A37}"/>
              </a:ext>
            </a:extLst>
          </p:cNvPr>
          <p:cNvSpPr txBox="1"/>
          <p:nvPr/>
        </p:nvSpPr>
        <p:spPr>
          <a:xfrm>
            <a:off x="9119356" y="5015328"/>
            <a:ext cx="30726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推理阶段：</a:t>
            </a:r>
            <a:endParaRPr lang="en-US" altLang="zh-CN" sz="1400" dirty="0"/>
          </a:p>
          <a:p>
            <a:r>
              <a:rPr lang="zh-CN" altLang="en-US" sz="1400" dirty="0"/>
              <a:t>阶段一输入原图，结构布局，文本，</a:t>
            </a:r>
            <a:r>
              <a:rPr lang="en-US" altLang="zh-CN" sz="1400" dirty="0"/>
              <a:t>mask</a:t>
            </a:r>
            <a:r>
              <a:rPr lang="zh-CN" altLang="en-US" sz="1400" dirty="0"/>
              <a:t>的信息和随机高斯噪声，输出粗粒度图像突出解剖边界，阶段二基于用户提供的掩码和粗粒度图像，使用</a:t>
            </a:r>
            <a:r>
              <a:rPr lang="en-US" altLang="zh-CN" sz="1400" dirty="0"/>
              <a:t>DDIM</a:t>
            </a:r>
            <a:r>
              <a:rPr lang="zh-CN" altLang="en-US" sz="1400" dirty="0"/>
              <a:t>算法输出优化的图像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B9E195B-A978-CD20-20BD-B444CA7B8D39}"/>
              </a:ext>
            </a:extLst>
          </p:cNvPr>
          <p:cNvSpPr txBox="1"/>
          <p:nvPr/>
        </p:nvSpPr>
        <p:spPr>
          <a:xfrm>
            <a:off x="9119356" y="1642568"/>
            <a:ext cx="24502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3600 </a:t>
            </a:r>
            <a:r>
              <a:rPr lang="zh-CN" altLang="en-US" sz="1400" dirty="0"/>
              <a:t>个多中心的正常胎儿超声图像用于训练，异常样本没有用于训练，只在训练完成后用于评估模型</a:t>
            </a:r>
          </a:p>
        </p:txBody>
      </p:sp>
    </p:spTree>
    <p:extLst>
      <p:ext uri="{BB962C8B-B14F-4D97-AF65-F5344CB8AC3E}">
        <p14:creationId xmlns:p14="http://schemas.microsoft.com/office/powerpoint/2010/main" val="4239003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534</Words>
  <Application>Microsoft Office PowerPoint</Application>
  <PresentationFormat>宽屏</PresentationFormat>
  <Paragraphs>50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ui-sans-serif</vt:lpstr>
      <vt:lpstr>等线</vt:lpstr>
      <vt:lpstr>等线 Light</vt:lpstr>
      <vt:lpstr>Arial</vt:lpstr>
      <vt:lpstr>Inter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Atlanta H</dc:creator>
  <cp:lastModifiedBy>Atlanta H</cp:lastModifiedBy>
  <cp:revision>6</cp:revision>
  <dcterms:created xsi:type="dcterms:W3CDTF">2025-12-30T03:39:25Z</dcterms:created>
  <dcterms:modified xsi:type="dcterms:W3CDTF">2025-12-30T09:11:27Z</dcterms:modified>
</cp:coreProperties>
</file>